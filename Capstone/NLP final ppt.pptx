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0" r:id="rId4"/>
    <p:sldId id="280" r:id="rId5"/>
    <p:sldId id="281" r:id="rId6"/>
    <p:sldId id="294" r:id="rId7"/>
    <p:sldId id="289" r:id="rId8"/>
    <p:sldId id="290" r:id="rId9"/>
    <p:sldId id="291" r:id="rId10"/>
    <p:sldId id="292" r:id="rId11"/>
    <p:sldId id="293" r:id="rId12"/>
    <p:sldId id="278" r:id="rId13"/>
    <p:sldId id="288" r:id="rId14"/>
    <p:sldId id="287" r:id="rId15"/>
    <p:sldId id="269" r:id="rId1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166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B0A04-E0C6-414F-8D92-53AC900F2B6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99CD0-ED8C-4C27-94A3-F3CADED6145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9591" y="1527208"/>
            <a:ext cx="250507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8655" y="2802128"/>
            <a:ext cx="6670675" cy="221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33593" y="6481636"/>
            <a:ext cx="14732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9971" y="1624936"/>
            <a:ext cx="769619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2400" dirty="0">
                <a:solidFill>
                  <a:schemeClr val="tx1"/>
                </a:solidFill>
              </a:rPr>
              <a:t>An Intelligent System for Automatic Grammar Error Detection and Correction Based on Rule-Based and Transformer Algorithms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750" y="4272312"/>
            <a:ext cx="1445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Supervisor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7310" y="4272280"/>
            <a:ext cx="4357370" cy="223522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algn="just"/>
            <a:r>
              <a:rPr lang="en-IN" sz="2400" b="1" spc="-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Presented by:</a:t>
            </a:r>
          </a:p>
          <a:p>
            <a:pPr algn="just"/>
            <a:r>
              <a:rPr lang="en-IN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B.V.Chaitanya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(192425376)</a:t>
            </a:r>
          </a:p>
          <a:p>
            <a:pPr algn="just"/>
            <a:r>
              <a:rPr lang="en-IN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T.Megha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harsha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(192424389)</a:t>
            </a:r>
          </a:p>
          <a:p>
            <a:pPr algn="just"/>
            <a:r>
              <a:rPr lang="en-IN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K.Yaswanth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(192425393)</a:t>
            </a:r>
          </a:p>
          <a:p>
            <a:pPr algn="just"/>
            <a:r>
              <a:rPr lang="en-IN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R.Kalyan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Kumar Reddy (192472274)</a:t>
            </a:r>
          </a:p>
          <a:p>
            <a:pPr algn="just"/>
            <a:r>
              <a:rPr lang="en-IN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M.Jagadeesh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(192472333)</a:t>
            </a: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SIMATS 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endParaRPr lang="en-IN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6750" y="4678893"/>
            <a:ext cx="30670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000" spc="-2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Kumaragurubaran 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9600" y="5072763"/>
            <a:ext cx="34480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IMATS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endParaRPr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26859" y="6412421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Calibri" panose="020F0502020204030204"/>
                <a:cs typeface="Calibri" panose="020F0502020204030204"/>
              </a:rPr>
              <a:t>1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6AD2F8-69EA-B5ED-6A24-AA956B40336C}"/>
              </a:ext>
            </a:extLst>
          </p:cNvPr>
          <p:cNvSpPr txBox="1"/>
          <p:nvPr/>
        </p:nvSpPr>
        <p:spPr>
          <a:xfrm>
            <a:off x="2472510" y="3228945"/>
            <a:ext cx="7032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DSA0308-Natural Language Processing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5161" y="1524000"/>
            <a:ext cx="2505075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Introduction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F825CB-83D7-268A-678A-441CDBBFD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743200"/>
            <a:ext cx="8686800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Grammar error detection and correction plays a vital role in improving written communication quality.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systems assist students, professionals, and content creators in producing error-free text.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methods provide structured linguistic validation.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enhance contextual understanding and correction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3169-139C-F079-09F7-155DFA961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602BC1-31DE-3157-09B7-C433BBD41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7134" y="965032"/>
            <a:ext cx="372903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Literature Review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DB4EE81-0176-3EC2-BB02-8079F394E3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09571"/>
            <a:ext cx="7315199" cy="65242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D0DA91E-AD4D-6BD4-C628-A680DD1F472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4E384D-91BF-8496-399D-F389A6572409}"/>
              </a:ext>
            </a:extLst>
          </p:cNvPr>
          <p:cNvSpPr txBox="1"/>
          <p:nvPr/>
        </p:nvSpPr>
        <p:spPr>
          <a:xfrm>
            <a:off x="5410200" y="1905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DACEBBC-A5F3-87FF-B07C-012215B54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302814"/>
              </p:ext>
            </p:extLst>
          </p:nvPr>
        </p:nvGraphicFramePr>
        <p:xfrm>
          <a:off x="56536" y="1781194"/>
          <a:ext cx="9067799" cy="4700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1722440958"/>
                    </a:ext>
                  </a:extLst>
                </a:gridCol>
                <a:gridCol w="2707642">
                  <a:extLst>
                    <a:ext uri="{9D8B030D-6E8A-4147-A177-3AD203B41FA5}">
                      <a16:colId xmlns:a16="http://schemas.microsoft.com/office/drawing/2014/main" val="3877491048"/>
                    </a:ext>
                  </a:extLst>
                </a:gridCol>
                <a:gridCol w="2569209">
                  <a:extLst>
                    <a:ext uri="{9D8B030D-6E8A-4147-A177-3AD203B41FA5}">
                      <a16:colId xmlns:a16="http://schemas.microsoft.com/office/drawing/2014/main" val="3813254849"/>
                    </a:ext>
                  </a:extLst>
                </a:gridCol>
                <a:gridCol w="2266949">
                  <a:extLst>
                    <a:ext uri="{9D8B030D-6E8A-4147-A177-3AD203B41FA5}">
                      <a16:colId xmlns:a16="http://schemas.microsoft.com/office/drawing/2014/main" val="2309630368"/>
                    </a:ext>
                  </a:extLst>
                </a:gridCol>
              </a:tblGrid>
              <a:tr h="865774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999296"/>
                  </a:ext>
                </a:extLst>
              </a:tr>
              <a:tr h="112023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1" dirty="0"/>
                        <a:t>Preposition Error Correction</a:t>
                      </a:r>
                      <a:r>
                        <a:rPr lang="en-US" sz="1800" dirty="0"/>
                        <a:t> – Chodorow et al. (2024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Rule-based grammar rules combined with statistical modeling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to specific grammatical errors and domain dependent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401788"/>
                  </a:ext>
                </a:extLst>
              </a:tr>
              <a:tr h="86577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CoNLL-2014 Shared Task</a:t>
                      </a:r>
                      <a:r>
                        <a:rPr lang="en-US" dirty="0"/>
                        <a:t> – Ng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Statistical Machine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Poor contextual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041070"/>
                  </a:ext>
                </a:extLst>
              </a:tr>
              <a:tr h="865774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i="1" dirty="0"/>
                        <a:t>BERT Model</a:t>
                      </a:r>
                      <a:r>
                        <a:rPr lang="da-DK" dirty="0"/>
                        <a:t> – Devlin et al. (2025)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Transformer-based contextual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Needs large data &amp; high computation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083021"/>
                  </a:ext>
                </a:extLst>
              </a:tr>
              <a:tr h="865774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Neural GEC with FST</a:t>
                      </a:r>
                      <a:r>
                        <a:rPr lang="en-US" dirty="0"/>
                        <a:t> – </a:t>
                      </a:r>
                      <a:r>
                        <a:rPr lang="en-US" dirty="0" err="1"/>
                        <a:t>Lichtarge</a:t>
                      </a:r>
                      <a:r>
                        <a:rPr lang="en-US" dirty="0"/>
                        <a:t> et al. </a:t>
                      </a:r>
                      <a:r>
                        <a:rPr lang="en-US"/>
                        <a:t>(2023)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Neural transformer model integrated with linguistic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computational cost and possible over-correction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50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37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C0FA5-1572-BAAA-BB5B-B8F83145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987BD1-DC46-C6DB-C6A0-A43EF91DDC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600" y="1828675"/>
            <a:ext cx="3810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Problem Statement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AA9A83B-F703-5A24-5B01-A0D4FE48E7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988E8629-C8F6-AD91-466F-D6813A1B8D7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F9EF643-557C-7651-4D99-1A3F9A6FD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99" y="2743200"/>
            <a:ext cx="8382000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grammar checking systems either rely solely on rigid rules or complex deep learning models.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systems lack contextual flexibility.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require high computational resources and large datasets.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hybrid system combining accuracy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1635473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1014-AAB0-A85F-F3CC-52BC93B9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A6D728-2144-5387-6799-DC2C8AA19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780540"/>
            <a:ext cx="7848599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rule-based grammar checking module.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transformer-based grammar correction module.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both modules into a hybrid framework.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system performance using standard 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94069E2D-7D8B-4D2D-05D6-B6524F5733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9" y="77932"/>
            <a:ext cx="7238999" cy="110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7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0EB3-4F67-8BD5-A61C-F23CB625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759" y="1251872"/>
            <a:ext cx="4374466" cy="606392"/>
          </a:xfrm>
        </p:spPr>
        <p:txBody>
          <a:bodyPr/>
          <a:lstStyle/>
          <a:p>
            <a:r>
              <a:rPr lang="en-US" dirty="0"/>
              <a:t>Architecture Diagram</a:t>
            </a:r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9E3C4E4-4B05-DBE8-C93C-79C1DD80A9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10288"/>
            <a:ext cx="7238999" cy="1109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CB9819-A931-5B23-C803-2CBB67D55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64" y="1981200"/>
            <a:ext cx="7364435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32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564F-4E7C-7332-FF0D-236FDC2FD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401880"/>
            <a:ext cx="7772400" cy="369332"/>
          </a:xfrm>
        </p:spPr>
        <p:txBody>
          <a:bodyPr/>
          <a:lstStyle/>
          <a:p>
            <a:r>
              <a:rPr lang="en-US" sz="2400" dirty="0"/>
              <a:t>Module 1: Text Input &amp; Preprocessing</a:t>
            </a:r>
            <a:endParaRPr lang="en-IN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02080DC-C9E3-D448-57E0-F4855E7683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655" y="76200"/>
            <a:ext cx="7238999" cy="1109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F3A67A-44AA-A026-025A-CE46EA535056}"/>
              </a:ext>
            </a:extLst>
          </p:cNvPr>
          <p:cNvSpPr txBox="1"/>
          <p:nvPr/>
        </p:nvSpPr>
        <p:spPr>
          <a:xfrm>
            <a:off x="381000" y="2505056"/>
            <a:ext cx="87630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text input from the user in the form of typed text or uploaded files.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basic preprocessing to eliminate unwanted symbols, extra spaces, and formatting inconsistencies.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sentence boundaries to organize the text for efficient analysis.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Break each sentence into individual words and standardize the text for further processing.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a well-structured and processed text dataset that is ready for grammar error detection and correction.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41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6733F-B6FC-CF11-1C84-6751D8AC9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600200"/>
            <a:ext cx="6670674" cy="530192"/>
          </a:xfrm>
        </p:spPr>
        <p:txBody>
          <a:bodyPr/>
          <a:lstStyle/>
          <a:p>
            <a:r>
              <a:rPr lang="en-US" sz="2400" dirty="0"/>
              <a:t>Module 2 : Rule-Based Grammar Error Detection</a:t>
            </a:r>
            <a:endParaRPr lang="en-IN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F2ECA68-6B08-27EE-3765-D4D771FF240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655" y="109571"/>
            <a:ext cx="7238999" cy="1109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A53486-7B9C-79CA-C901-13A6E4418EA0}"/>
              </a:ext>
            </a:extLst>
          </p:cNvPr>
          <p:cNvSpPr txBox="1"/>
          <p:nvPr/>
        </p:nvSpPr>
        <p:spPr>
          <a:xfrm>
            <a:off x="630237" y="2544763"/>
            <a:ext cx="83058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predefined grammar rules to identify errors in the input text.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common grammatical mistakes such as subject–verb agreement, tense, punctuation, and article usage.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sentence structures with grammatical patterns to locate incorrect word arrangements.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and highlight grammar errors by specifying their exact positions in the text. Generate a detailed list of detected grammar errors for correction in the next module.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469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7EC67-B09E-2273-B69F-4DA67CCD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447800"/>
            <a:ext cx="7079730" cy="580200"/>
          </a:xfrm>
        </p:spPr>
        <p:txBody>
          <a:bodyPr/>
          <a:lstStyle/>
          <a:p>
            <a:r>
              <a:rPr lang="en-IN" sz="2400" dirty="0"/>
              <a:t>Module 3 : Transformer-Based Grammar Correction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646C0E9-8B70-7984-3E56-BF0B30C355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655" y="76200"/>
            <a:ext cx="7238999" cy="1109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90B051-5C75-176D-1A1D-A67FFA8E5102}"/>
              </a:ext>
            </a:extLst>
          </p:cNvPr>
          <p:cNvSpPr txBox="1"/>
          <p:nvPr/>
        </p:nvSpPr>
        <p:spPr>
          <a:xfrm>
            <a:off x="370954" y="2459136"/>
            <a:ext cx="85344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the detected grammar errors using a transformer-based language model.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grammatically correct sentences while preserving the original meaning of the text.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errors related to grammar, word choice, sentence structure, and punctuation.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fluency and readability of the corrected text using contextual understanding.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an accurate and refined version of the input text for final output. </a:t>
            </a:r>
          </a:p>
        </p:txBody>
      </p:sp>
    </p:spTree>
    <p:extLst>
      <p:ext uri="{BB962C8B-B14F-4D97-AF65-F5344CB8AC3E}">
        <p14:creationId xmlns:p14="http://schemas.microsoft.com/office/powerpoint/2010/main" val="3604014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6D60-B214-93D4-8920-13DFA925E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527208"/>
            <a:ext cx="7315200" cy="530192"/>
          </a:xfrm>
        </p:spPr>
        <p:txBody>
          <a:bodyPr/>
          <a:lstStyle/>
          <a:p>
            <a:r>
              <a:rPr lang="en-IN" sz="2400" dirty="0"/>
              <a:t>Module 4  : Hybrid Integration &amp; Error Resolution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DAAF324-BC03-D4CF-F8C7-F1C54ED6F6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655" y="76200"/>
            <a:ext cx="7238999" cy="1109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6E8ECA-D7E5-3B83-129A-1F10F018155E}"/>
              </a:ext>
            </a:extLst>
          </p:cNvPr>
          <p:cNvSpPr txBox="1"/>
          <p:nvPr/>
        </p:nvSpPr>
        <p:spPr>
          <a:xfrm>
            <a:off x="609600" y="2391405"/>
            <a:ext cx="8382000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outputs of the rule-based and transformer-based approaches into a unified correction process.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conflicts between rule-based detections and transformer-generated corrections.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 the corrected text to ensure grammatical consistency and accuracy. Minimize false corrections by selecting the most appropriate correction based on predefined rules and contextual understanding.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final error-free version of the text with improved grammar, clarity, and readability.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447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2954-CEA0-827F-6137-9EE3705AE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655" y="1527208"/>
            <a:ext cx="7238999" cy="606392"/>
          </a:xfrm>
        </p:spPr>
        <p:txBody>
          <a:bodyPr/>
          <a:lstStyle/>
          <a:p>
            <a:r>
              <a:rPr lang="en-IN" sz="2400" dirty="0"/>
              <a:t>Module 5 : Performance Evaluation &amp; User Interface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1B6665D-FDC5-6C1F-E96A-E4C144D455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655" y="76200"/>
            <a:ext cx="7238999" cy="1109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4CBF07-D49B-0114-5103-22A22650525F}"/>
              </a:ext>
            </a:extLst>
          </p:cNvPr>
          <p:cNvSpPr txBox="1"/>
          <p:nvPr/>
        </p:nvSpPr>
        <p:spPr>
          <a:xfrm>
            <a:off x="190500" y="2506934"/>
            <a:ext cx="876300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system by measuring grammar detection and correction accuracy.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original text with the corrected output to assess the quality of corrections.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detected errors and suggested corrections through a simple and user-friendly interface.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users to review, accept, or modify the suggested grammar corrections. Generate the final corrected text along with performance metrics and a summary of detected errors.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77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4AD76-22FF-2EA0-06F3-1F771AE0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9006BB-897F-D44A-2147-C2C0A5434E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1524000"/>
            <a:ext cx="731519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sz="2800"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DF26D8D-58F8-FDD1-320B-DE9C1DB44288}"/>
              </a:ext>
            </a:extLst>
          </p:cNvPr>
          <p:cNvSpPr txBox="1"/>
          <p:nvPr/>
        </p:nvSpPr>
        <p:spPr>
          <a:xfrm>
            <a:off x="409639" y="2058227"/>
            <a:ext cx="8324722" cy="2912144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detects and corrects grammar errors using a combination of rule-based and transformer-based approaches.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algorithms enhance accuracy by understanding context, while rule-based methods ensure structural correctness.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improves writing quality and can be extended to support multiple languages and real-time applications.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31B9B79-F45F-C570-B62D-DD1A0602BD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F4332CDF-5CEE-912C-0472-7671BD4A57A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790356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90E2-647F-E48E-92AF-BD0C6D0F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1676400"/>
            <a:ext cx="5029200" cy="369332"/>
          </a:xfrm>
        </p:spPr>
        <p:txBody>
          <a:bodyPr/>
          <a:lstStyle/>
          <a:p>
            <a:r>
              <a:rPr lang="en-US" sz="2400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BD9E7F-E9E2-51D8-CDB7-905C042E1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5083" y="2667000"/>
            <a:ext cx="7053834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transformer models for better contextual understanding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grammar correction for multiple languages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real-time grammar correction in text editors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evaluation with larger and more diverse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6EB74EDD-AB27-B1B3-D35F-E9FBFCE1E9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21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5062D-2888-3EE0-ED6A-B7F5A85B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591" y="1527208"/>
            <a:ext cx="2505075" cy="369332"/>
          </a:xfrm>
        </p:spPr>
        <p:txBody>
          <a:bodyPr/>
          <a:lstStyle/>
          <a:p>
            <a:r>
              <a:rPr lang="en-US" sz="2400" dirty="0" err="1"/>
              <a:t>Refrences</a:t>
            </a:r>
            <a:endParaRPr lang="en-US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13DA749-586A-70DB-6EAD-F3030FC028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DFA1DF5-9B38-FB46-BC7A-B31AD7E1B6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490960"/>
            <a:ext cx="9220200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Qorib, M. R., Aji, A. F., &amp; Ng, H. T. (2024). Efficient and Interpretable Grammatical Error Correction with Mixture of Experts. EMNLP.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Zhang, Y.,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Kamigaito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H., &amp; Okumura, M. (2023). Bidirectional Transformer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Reranker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Grammatical Error Correction. ACL Findings.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Tudose, M.,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Ruseti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S., &amp; Dascalu, M. (2025). Two-Phased Grammatical Error Correction System. Information Journal.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Hwang, H. (2025). Evaluating Transformer-Based Grammatical Error Correction Systems. Language Testing in Asia.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57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asin Mini ThankYou for Your Order Business Cards Shopping Purchase Thanks  Greeting Cards to Customer, Modern Design Appreciation Cards for Small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886"/>
            <a:ext cx="9144000" cy="759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881</Words>
  <Application>Microsoft Office PowerPoint</Application>
  <PresentationFormat>On-screen Show (4:3)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An Intelligent System for Automatic Grammar Error Detection and Correction Based on Rule-Based and Transformer Algorithms</vt:lpstr>
      <vt:lpstr>Introduction</vt:lpstr>
      <vt:lpstr>Literature Review</vt:lpstr>
      <vt:lpstr>Problem Statement</vt:lpstr>
      <vt:lpstr>Objectives</vt:lpstr>
      <vt:lpstr>Architecture Diagram</vt:lpstr>
      <vt:lpstr>Module 1: Text Input &amp; Preprocessing</vt:lpstr>
      <vt:lpstr>Module 2 : Rule-Based Grammar Error Detection</vt:lpstr>
      <vt:lpstr>Module 3 : Transformer-Based Grammar Correction</vt:lpstr>
      <vt:lpstr>Module 4  : Hybrid Integration &amp; Error Resolution</vt:lpstr>
      <vt:lpstr>Module 5 : Performance Evaluation &amp; User Interface</vt:lpstr>
      <vt:lpstr> Conclusion</vt:lpstr>
      <vt:lpstr>Future Enhancements</vt:lpstr>
      <vt:lpstr>Refrences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CapstoneProject _Format.pptx</dc:title>
  <dc:creator>YASWANTH K</dc:creator>
  <cp:lastModifiedBy>Sai pavan Lakkamsani</cp:lastModifiedBy>
  <cp:revision>14</cp:revision>
  <dcterms:created xsi:type="dcterms:W3CDTF">2025-08-17T05:58:00Z</dcterms:created>
  <dcterms:modified xsi:type="dcterms:W3CDTF">2026-08-29T03:08:44Z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2025-08-17T05:30:00Z</vt:filetime>
  </property>
  <property fmtid="{D5CDD505-2E9C-101B-9397-08002B2CF9AE}" pid="3" name="Creator">
    <vt:lpwstr>Google</vt:lpwstr>
  </property>
  <property fmtid="{D5CDD505-2E9C-101B-9397-08002B2CF9AE}" pid="4" name="LastSaved">
    <vt:filetime>2025-08-17T05:30:00Z</vt:filetime>
  </property>
  <property fmtid="{D5CDD505-2E9C-101B-9397-08002B2CF9AE}" pid="5" name="ICV">
    <vt:lpwstr>D89C0033B1B04812A4E5B15B52637543_12</vt:lpwstr>
  </property>
  <property fmtid="{D5CDD505-2E9C-101B-9397-08002B2CF9AE}" pid="6" name="KSOProductBuildVer">
    <vt:lpwstr>1033-12.2.0.23155</vt:lpwstr>
  </property>
</Properties>
</file>